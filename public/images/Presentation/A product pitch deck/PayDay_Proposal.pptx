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N2h/LFIA6+R8sw0Iuw6aR0n3p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11" Type="http://schemas.openxmlformats.org/officeDocument/2006/relationships/image" Target="../media/image3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0078"/>
            <a:ext cx="12192000" cy="6888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151" y="879247"/>
            <a:ext cx="8359536" cy="1795690"/>
          </a:xfrm>
          <a:prstGeom prst="rect">
            <a:avLst/>
          </a:prstGeom>
          <a:noFill/>
          <a:ln>
            <a:noFill/>
          </a:ln>
          <a:effectLst>
            <a:outerShdw blurRad="177800" dir="2700000" dist="127000">
              <a:srgbClr val="000000">
                <a:alpha val="26666"/>
              </a:srgbClr>
            </a:outerShdw>
          </a:effectLst>
        </p:spPr>
      </p:pic>
      <p:sp>
        <p:nvSpPr>
          <p:cNvPr id="86" name="Google Shape;86;p1"/>
          <p:cNvSpPr txBox="1"/>
          <p:nvPr/>
        </p:nvSpPr>
        <p:spPr>
          <a:xfrm>
            <a:off x="1078424" y="5630344"/>
            <a:ext cx="100338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Powering</a:t>
            </a:r>
            <a:r>
              <a:rPr b="0" i="0" lang="en-US" sz="3200" u="none" cap="none" strike="noStrike">
                <a:solidFill>
                  <a:srgbClr val="3973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Payroll</a:t>
            </a:r>
            <a:r>
              <a:rPr b="0" i="0" lang="en-US" sz="3200" u="none" cap="none" strike="noStrike">
                <a:solidFill>
                  <a:srgbClr val="3973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Simplicity with </a:t>
            </a:r>
            <a:r>
              <a:rPr b="0" i="0" lang="en-US" sz="3200" u="none" cap="none" strike="noStrike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3200" u="none" cap="none" strike="noStrike">
              <a:solidFill>
                <a:srgbClr val="74B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28205" r="28526" t="0"/>
          <a:stretch/>
        </p:blipFill>
        <p:spPr>
          <a:xfrm>
            <a:off x="3438769" y="0"/>
            <a:ext cx="52753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F4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904" y="-14378"/>
            <a:ext cx="15968597" cy="868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354" y="443417"/>
            <a:ext cx="1762777" cy="414767"/>
          </a:xfrm>
          <a:prstGeom prst="rect">
            <a:avLst/>
          </a:prstGeom>
          <a:noFill/>
          <a:ln>
            <a:noFill/>
          </a:ln>
          <a:effectLst>
            <a:outerShdw blurRad="177800" dir="2700000" dist="127000">
              <a:srgbClr val="000000">
                <a:alpha val="26666"/>
              </a:srgbClr>
            </a:outerShdw>
          </a:effectLst>
        </p:spPr>
      </p:pic>
      <p:sp>
        <p:nvSpPr>
          <p:cNvPr id="94" name="Google Shape;94;p2"/>
          <p:cNvSpPr txBox="1"/>
          <p:nvPr/>
        </p:nvSpPr>
        <p:spPr>
          <a:xfrm>
            <a:off x="868580" y="970986"/>
            <a:ext cx="1003386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Payroll Is</a:t>
            </a:r>
            <a:r>
              <a:rPr b="0" i="0" lang="en-US" sz="4000" u="none" cap="none" strike="noStrike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 Broken.</a:t>
            </a:r>
            <a:br>
              <a:rPr b="0" i="0" lang="en-US" sz="4000" u="none" cap="none" strike="noStrike">
                <a:solidFill>
                  <a:srgbClr val="3973F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 cap="none" strike="noStrike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Fixed It.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"/>
          <p:cNvCxnSpPr/>
          <p:nvPr/>
        </p:nvCxnSpPr>
        <p:spPr>
          <a:xfrm flipH="1" rot="10800000">
            <a:off x="970292" y="2524731"/>
            <a:ext cx="638006" cy="2403"/>
          </a:xfrm>
          <a:prstGeom prst="straightConnector1">
            <a:avLst/>
          </a:prstGeom>
          <a:noFill/>
          <a:ln cap="flat" cmpd="sng" w="2857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2"/>
          <p:cNvSpPr txBox="1"/>
          <p:nvPr/>
        </p:nvSpPr>
        <p:spPr>
          <a:xfrm>
            <a:off x="868580" y="2764075"/>
            <a:ext cx="100338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One Platform.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End-to-End Payroll &amp; HR.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68580" y="6490865"/>
            <a:ext cx="1003386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68579" y="3430075"/>
            <a:ext cx="3577860" cy="34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PayDay Suite offers a 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68579" y="5326009"/>
            <a:ext cx="3577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ideal for enterprises running global payroll:</a:t>
            </a:r>
            <a:endParaRPr b="0" sz="12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5525" y="4100996"/>
            <a:ext cx="379726" cy="41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678079" y="4559370"/>
            <a:ext cx="1593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comprehensive payroll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31692" y="4559370"/>
            <a:ext cx="16207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HR automation platform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502656" y="4574920"/>
            <a:ext cx="1593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581" y="4106640"/>
            <a:ext cx="383116" cy="409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"/>
          <p:cNvCxnSpPr/>
          <p:nvPr/>
        </p:nvCxnSpPr>
        <p:spPr>
          <a:xfrm flipH="1" rot="10800000">
            <a:off x="968671" y="3863018"/>
            <a:ext cx="2653620" cy="8467"/>
          </a:xfrm>
          <a:prstGeom prst="straightConnector1">
            <a:avLst/>
          </a:prstGeom>
          <a:noFill/>
          <a:ln cap="flat" cmpd="sng" w="952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2"/>
          <p:cNvCxnSpPr/>
          <p:nvPr/>
        </p:nvCxnSpPr>
        <p:spPr>
          <a:xfrm flipH="1" rot="10800000">
            <a:off x="968671" y="5185312"/>
            <a:ext cx="2651887" cy="8467"/>
          </a:xfrm>
          <a:prstGeom prst="straightConnector1">
            <a:avLst/>
          </a:prstGeom>
          <a:noFill/>
          <a:ln cap="flat" cmpd="sng" w="952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F4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" y="0"/>
            <a:ext cx="121895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5265" y="3501771"/>
            <a:ext cx="935050" cy="213963"/>
          </a:xfrm>
          <a:prstGeom prst="rect">
            <a:avLst/>
          </a:prstGeom>
          <a:noFill/>
          <a:ln>
            <a:noFill/>
          </a:ln>
          <a:effectLst>
            <a:outerShdw blurRad="177800" dir="2700000" dist="127000">
              <a:srgbClr val="000000">
                <a:alpha val="26666"/>
              </a:srgbClr>
            </a:outerShdw>
          </a:effectLst>
        </p:spPr>
      </p:pic>
      <p:cxnSp>
        <p:nvCxnSpPr>
          <p:cNvPr id="113" name="Google Shape;113;p3"/>
          <p:cNvCxnSpPr/>
          <p:nvPr/>
        </p:nvCxnSpPr>
        <p:spPr>
          <a:xfrm flipH="1" rot="10800000">
            <a:off x="970292" y="1696818"/>
            <a:ext cx="638006" cy="2403"/>
          </a:xfrm>
          <a:prstGeom prst="straightConnector1">
            <a:avLst/>
          </a:prstGeom>
          <a:noFill/>
          <a:ln cap="flat" cmpd="sng" w="2857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 txBox="1"/>
          <p:nvPr/>
        </p:nvSpPr>
        <p:spPr>
          <a:xfrm>
            <a:off x="868580" y="6490865"/>
            <a:ext cx="1003386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68580" y="542500"/>
            <a:ext cx="1003386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One Platform.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End-to-End Payroll &amp; HR. </a:t>
            </a:r>
            <a:endParaRPr/>
          </a:p>
        </p:txBody>
      </p:sp>
      <p:grpSp>
        <p:nvGrpSpPr>
          <p:cNvPr id="116" name="Google Shape;116;p3"/>
          <p:cNvGrpSpPr/>
          <p:nvPr/>
        </p:nvGrpSpPr>
        <p:grpSpPr>
          <a:xfrm>
            <a:off x="2601028" y="2397881"/>
            <a:ext cx="3666374" cy="512377"/>
            <a:chOff x="2601028" y="2397881"/>
            <a:chExt cx="3666374" cy="512377"/>
          </a:xfrm>
        </p:grpSpPr>
        <p:sp>
          <p:nvSpPr>
            <p:cNvPr id="117" name="Google Shape;117;p3"/>
            <p:cNvSpPr txBox="1"/>
            <p:nvPr/>
          </p:nvSpPr>
          <p:spPr>
            <a:xfrm>
              <a:off x="2601028" y="2481295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One-Click Payroll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ursor outline" id="118" name="Google Shape;118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55025" y="2397881"/>
              <a:ext cx="512377" cy="5123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3"/>
          <p:cNvGrpSpPr/>
          <p:nvPr/>
        </p:nvGrpSpPr>
        <p:grpSpPr>
          <a:xfrm>
            <a:off x="2599450" y="4208243"/>
            <a:ext cx="3698433" cy="560436"/>
            <a:chOff x="2599450" y="4208243"/>
            <a:chExt cx="3698433" cy="560436"/>
          </a:xfrm>
        </p:grpSpPr>
        <p:sp>
          <p:nvSpPr>
            <p:cNvPr id="120" name="Google Shape;120;p3"/>
            <p:cNvSpPr txBox="1"/>
            <p:nvPr/>
          </p:nvSpPr>
          <p:spPr>
            <a:xfrm>
              <a:off x="2599450" y="4345323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 Fraud Detection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obot outline" id="121" name="Google Shape;121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37447" y="4208243"/>
              <a:ext cx="560436" cy="5604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3"/>
          <p:cNvGrpSpPr/>
          <p:nvPr/>
        </p:nvGrpSpPr>
        <p:grpSpPr>
          <a:xfrm>
            <a:off x="6240296" y="5151325"/>
            <a:ext cx="2743200" cy="1223304"/>
            <a:chOff x="6240296" y="5151325"/>
            <a:chExt cx="2743200" cy="1223304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6240296" y="6036075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Multi-Country Compliance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oins outline" id="124" name="Google Shape;124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37819" y="5151325"/>
              <a:ext cx="537170" cy="5371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3"/>
          <p:cNvGrpSpPr/>
          <p:nvPr/>
        </p:nvGrpSpPr>
        <p:grpSpPr>
          <a:xfrm>
            <a:off x="8912344" y="4176127"/>
            <a:ext cx="2705607" cy="665123"/>
            <a:chOff x="8912344" y="4176127"/>
            <a:chExt cx="2705607" cy="665123"/>
          </a:xfrm>
        </p:grpSpPr>
        <p:sp>
          <p:nvSpPr>
            <p:cNvPr id="126" name="Google Shape;126;p3"/>
            <p:cNvSpPr txBox="1"/>
            <p:nvPr/>
          </p:nvSpPr>
          <p:spPr>
            <a:xfrm>
              <a:off x="9972547" y="4256475"/>
              <a:ext cx="164540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Bank &amp;</a:t>
              </a:r>
              <a:b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ERP Integrations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nk outline" id="127" name="Google Shape;127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12344" y="4176127"/>
              <a:ext cx="560436" cy="5604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3"/>
          <p:cNvGrpSpPr/>
          <p:nvPr/>
        </p:nvGrpSpPr>
        <p:grpSpPr>
          <a:xfrm>
            <a:off x="8922504" y="2361805"/>
            <a:ext cx="2682297" cy="584775"/>
            <a:chOff x="8922504" y="2361805"/>
            <a:chExt cx="2682297" cy="584775"/>
          </a:xfrm>
        </p:grpSpPr>
        <p:sp>
          <p:nvSpPr>
            <p:cNvPr id="129" name="Google Shape;129;p3"/>
            <p:cNvSpPr txBox="1"/>
            <p:nvPr/>
          </p:nvSpPr>
          <p:spPr>
            <a:xfrm>
              <a:off x="9972313" y="2361805"/>
              <a:ext cx="16324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Multi-Language Support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mote learning language outline" id="130" name="Google Shape;130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922504" y="2406464"/>
              <a:ext cx="540116" cy="5401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3"/>
          <p:cNvGrpSpPr/>
          <p:nvPr/>
        </p:nvGrpSpPr>
        <p:grpSpPr>
          <a:xfrm>
            <a:off x="6199531" y="687908"/>
            <a:ext cx="2743200" cy="1349136"/>
            <a:chOff x="6199531" y="687908"/>
            <a:chExt cx="2743200" cy="1349136"/>
          </a:xfrm>
        </p:grpSpPr>
        <p:sp>
          <p:nvSpPr>
            <p:cNvPr id="132" name="Google Shape;132;p3"/>
            <p:cNvSpPr txBox="1"/>
            <p:nvPr/>
          </p:nvSpPr>
          <p:spPr>
            <a:xfrm>
              <a:off x="6199531" y="687908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HR Lifecycle Tools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topwatch 75% outline" id="133" name="Google Shape;133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07339" y="1427930"/>
              <a:ext cx="609114" cy="6091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artoon of a robot on a phone&#10;&#10;AI-generated content may be incorrect." id="134" name="Google Shape;134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7832" y="2501916"/>
            <a:ext cx="3265033" cy="3572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F4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2253" l="0" r="1070" t="87"/>
          <a:stretch/>
        </p:blipFill>
        <p:spPr>
          <a:xfrm>
            <a:off x="0" y="-2027"/>
            <a:ext cx="12184443" cy="685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868580" y="6490865"/>
            <a:ext cx="1003386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354" y="443417"/>
            <a:ext cx="1762777" cy="414767"/>
          </a:xfrm>
          <a:prstGeom prst="rect">
            <a:avLst/>
          </a:prstGeom>
          <a:noFill/>
          <a:ln>
            <a:noFill/>
          </a:ln>
          <a:effectLst>
            <a:outerShdw blurRad="177800" dir="2700000" dist="127000">
              <a:srgbClr val="000000">
                <a:alpha val="26666"/>
              </a:srgbClr>
            </a:outerShdw>
          </a:effectLst>
        </p:spPr>
      </p:pic>
      <p:cxnSp>
        <p:nvCxnSpPr>
          <p:cNvPr id="142" name="Google Shape;142;p4"/>
          <p:cNvCxnSpPr/>
          <p:nvPr/>
        </p:nvCxnSpPr>
        <p:spPr>
          <a:xfrm flipH="1" rot="10800000">
            <a:off x="970292" y="6028186"/>
            <a:ext cx="638006" cy="2403"/>
          </a:xfrm>
          <a:prstGeom prst="straightConnector1">
            <a:avLst/>
          </a:prstGeom>
          <a:noFill/>
          <a:ln cap="flat" cmpd="sng" w="2857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901005" y="4873868"/>
            <a:ext cx="431075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From Hire to Paycheck </a:t>
            </a:r>
            <a:br>
              <a:rPr lang="en-US" sz="28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In One Flow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8636300" y="1709331"/>
            <a:ext cx="4167510" cy="697263"/>
            <a:chOff x="8636300" y="1709331"/>
            <a:chExt cx="4167510" cy="697263"/>
          </a:xfrm>
        </p:grpSpPr>
        <p:sp>
          <p:nvSpPr>
            <p:cNvPr id="145" name="Google Shape;145;p4"/>
            <p:cNvSpPr txBox="1"/>
            <p:nvPr/>
          </p:nvSpPr>
          <p:spPr>
            <a:xfrm>
              <a:off x="9305475" y="1760263"/>
              <a:ext cx="34983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Payslips +</a:t>
              </a:r>
              <a:b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Compliance Reports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Document outline" id="146" name="Google Shape;146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36300" y="1709331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4"/>
          <p:cNvGrpSpPr/>
          <p:nvPr/>
        </p:nvGrpSpPr>
        <p:grpSpPr>
          <a:xfrm>
            <a:off x="5972877" y="864590"/>
            <a:ext cx="3507588" cy="697263"/>
            <a:chOff x="5972877" y="864590"/>
            <a:chExt cx="3507588" cy="697263"/>
          </a:xfrm>
        </p:grpSpPr>
        <p:sp>
          <p:nvSpPr>
            <p:cNvPr id="148" name="Google Shape;148;p4"/>
            <p:cNvSpPr txBox="1"/>
            <p:nvPr/>
          </p:nvSpPr>
          <p:spPr>
            <a:xfrm>
              <a:off x="6737265" y="1028555"/>
              <a:ext cx="2743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Approval &amp; Execution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adge Tick outline" id="149" name="Google Shape;149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72877" y="864590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4"/>
          <p:cNvGrpSpPr/>
          <p:nvPr/>
        </p:nvGrpSpPr>
        <p:grpSpPr>
          <a:xfrm>
            <a:off x="1008392" y="3536590"/>
            <a:ext cx="4114878" cy="697263"/>
            <a:chOff x="1008392" y="3536590"/>
            <a:chExt cx="4114878" cy="697263"/>
          </a:xfrm>
        </p:grpSpPr>
        <p:sp>
          <p:nvSpPr>
            <p:cNvPr id="151" name="Google Shape;151;p4"/>
            <p:cNvSpPr txBox="1"/>
            <p:nvPr/>
          </p:nvSpPr>
          <p:spPr>
            <a:xfrm>
              <a:off x="1008392" y="3581821"/>
              <a:ext cx="338163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AI-Powered</a:t>
              </a:r>
              <a:b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Salary Calculation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alculator outline" id="152" name="Google Shape;152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26007" y="3536590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4"/>
          <p:cNvGrpSpPr/>
          <p:nvPr/>
        </p:nvGrpSpPr>
        <p:grpSpPr>
          <a:xfrm>
            <a:off x="5809310" y="5021492"/>
            <a:ext cx="2743200" cy="1082894"/>
            <a:chOff x="6182051" y="5171382"/>
            <a:chExt cx="2743200" cy="1082894"/>
          </a:xfrm>
        </p:grpSpPr>
        <p:sp>
          <p:nvSpPr>
            <p:cNvPr id="154" name="Google Shape;154;p4"/>
            <p:cNvSpPr txBox="1"/>
            <p:nvPr/>
          </p:nvSpPr>
          <p:spPr>
            <a:xfrm>
              <a:off x="6182051" y="5884944"/>
              <a:ext cx="2743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Final Settlements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oney outline" id="155" name="Google Shape;155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72106" y="5171382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4"/>
          <p:cNvGrpSpPr/>
          <p:nvPr/>
        </p:nvGrpSpPr>
        <p:grpSpPr>
          <a:xfrm>
            <a:off x="230348" y="2290816"/>
            <a:ext cx="3392965" cy="697263"/>
            <a:chOff x="230348" y="2290816"/>
            <a:chExt cx="3392965" cy="697263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230348" y="2400838"/>
              <a:ext cx="2743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Attendance Integration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ears outline" id="158" name="Google Shape;158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926050" y="2290816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4"/>
          <p:cNvGrpSpPr/>
          <p:nvPr/>
        </p:nvGrpSpPr>
        <p:grpSpPr>
          <a:xfrm>
            <a:off x="1008392" y="922064"/>
            <a:ext cx="2446185" cy="697263"/>
            <a:chOff x="1008392" y="922064"/>
            <a:chExt cx="2446185" cy="697263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1008392" y="972996"/>
              <a:ext cx="162403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Employee</a:t>
              </a:r>
              <a:b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Onboarding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Employee badge outline" id="161" name="Google Shape;161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757314" y="922064"/>
              <a:ext cx="697263" cy="6972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F4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" y="0"/>
            <a:ext cx="121895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868580" y="6490865"/>
            <a:ext cx="1003386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354" y="443417"/>
            <a:ext cx="1762777" cy="414767"/>
          </a:xfrm>
          <a:prstGeom prst="rect">
            <a:avLst/>
          </a:prstGeom>
          <a:noFill/>
          <a:ln>
            <a:noFill/>
          </a:ln>
          <a:effectLst>
            <a:outerShdw blurRad="177800" dir="2700000" dist="127000">
              <a:srgbClr val="000000">
                <a:alpha val="26666"/>
              </a:srgbClr>
            </a:outerShdw>
          </a:effectLst>
        </p:spPr>
      </p:pic>
      <p:cxnSp>
        <p:nvCxnSpPr>
          <p:cNvPr id="169" name="Google Shape;169;p5"/>
          <p:cNvCxnSpPr/>
          <p:nvPr/>
        </p:nvCxnSpPr>
        <p:spPr>
          <a:xfrm flipH="1" rot="10800000">
            <a:off x="970292" y="1910143"/>
            <a:ext cx="638006" cy="2403"/>
          </a:xfrm>
          <a:prstGeom prst="straightConnector1">
            <a:avLst/>
          </a:prstGeom>
          <a:noFill/>
          <a:ln cap="flat" cmpd="sng" w="28575">
            <a:solidFill>
              <a:srgbClr val="3973F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5"/>
          <p:cNvSpPr txBox="1"/>
          <p:nvPr/>
        </p:nvSpPr>
        <p:spPr>
          <a:xfrm>
            <a:off x="884793" y="755826"/>
            <a:ext cx="517813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Trusted by Leading Companies Across the </a:t>
            </a:r>
            <a:r>
              <a:rPr lang="en-US" sz="28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GCC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5"/>
          <p:cNvPicPr preferRelativeResize="0"/>
          <p:nvPr/>
        </p:nvPicPr>
        <p:blipFill/>
        <p:spPr>
          <a:xfrm>
            <a:off x="0" y="5307602"/>
            <a:ext cx="12192000" cy="1028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862203" y="2820170"/>
            <a:ext cx="1861948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1000+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Companies Started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980532" y="3814821"/>
            <a:ext cx="301996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5"/>
          <p:cNvCxnSpPr/>
          <p:nvPr/>
        </p:nvCxnSpPr>
        <p:spPr>
          <a:xfrm>
            <a:off x="2876416" y="2980711"/>
            <a:ext cx="2434" cy="63908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5"/>
          <p:cNvSpPr txBox="1"/>
          <p:nvPr/>
        </p:nvSpPr>
        <p:spPr>
          <a:xfrm>
            <a:off x="3068726" y="2824756"/>
            <a:ext cx="1085555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5+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Countries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68580" y="3890978"/>
            <a:ext cx="165422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74B0FF"/>
                </a:solidFill>
                <a:latin typeface="Arial"/>
                <a:ea typeface="Arial"/>
                <a:cs typeface="Arial"/>
                <a:sym typeface="Arial"/>
              </a:rPr>
              <a:t>50K+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 Monthly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884793" y="2108926"/>
            <a:ext cx="5178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Built by people who’ve done Payroll the Hard way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-1706214" y="1"/>
            <a:ext cx="653620" cy="689567"/>
          </a:xfrm>
          <a:prstGeom prst="rect">
            <a:avLst/>
          </a:prstGeom>
          <a:solidFill>
            <a:srgbClr val="222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-1706214" y="878237"/>
            <a:ext cx="653620" cy="689567"/>
          </a:xfrm>
          <a:prstGeom prst="rect">
            <a:avLst/>
          </a:prstGeom>
          <a:solidFill>
            <a:srgbClr val="3973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-860265" y="878238"/>
            <a:ext cx="653620" cy="689567"/>
          </a:xfrm>
          <a:prstGeom prst="rect">
            <a:avLst/>
          </a:prstGeom>
          <a:solidFill>
            <a:srgbClr val="74B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-860265" y="1711272"/>
            <a:ext cx="653620" cy="689567"/>
          </a:xfrm>
          <a:prstGeom prst="rect">
            <a:avLst/>
          </a:prstGeom>
          <a:solidFill>
            <a:srgbClr val="3C46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-1706214" y="1711271"/>
            <a:ext cx="653620" cy="689567"/>
          </a:xfrm>
          <a:prstGeom prst="rect">
            <a:avLst/>
          </a:prstGeom>
          <a:solidFill>
            <a:srgbClr val="191F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-860265" y="0"/>
            <a:ext cx="653620" cy="689567"/>
          </a:xfrm>
          <a:prstGeom prst="rect">
            <a:avLst/>
          </a:prstGeom>
          <a:solidFill>
            <a:srgbClr val="2637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small triangles&#10;&#10;AI-generated content may be incorrect.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2025-07-09T12:25:25Z</dcterms:created>
</cp:coreProperties>
</file>